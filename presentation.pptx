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503920" y="731520"/>
            <a:ext cx="2834640" cy="822960"/>
          </a:xfrm>
          <a:prstGeom prst="roundRect">
            <a:avLst/>
          </a:prstGeom>
          <a:solidFill>
            <a:srgbClr val="31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0" y="1828800"/>
            <a:ext cx="2286000" cy="822960"/>
          </a:xfrm>
          <a:prstGeom prst="roundRect">
            <a:avLst/>
          </a:prstGeom>
          <a:solidFill>
            <a:srgbClr val="24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38160" y="2926080"/>
            <a:ext cx="3200400" cy="822960"/>
          </a:xfrm>
          <a:prstGeom prst="roundRect">
            <a:avLst/>
          </a:prstGeom>
          <a:solidFill>
            <a:srgbClr val="E0A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71323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Stroke-Risk Category</a:t>
            </a:r>
            <a:br/>
            <a:r>
              <a:t>Classification with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Dataset: 50,000 records • 40 columns • 3 target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37960"/>
            <a:ext cx="229421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8"/>
                </a:solidFill>
              </a:defRPr>
            </a:pPr>
            <a:r>
              <a:rPr dirty="0"/>
              <a:t>Stroke-Risk Category Classification • </a:t>
            </a:r>
            <a:r>
              <a:rPr lang="en-US" dirty="0"/>
              <a:t>F</a:t>
            </a:r>
            <a:r>
              <a:rPr dirty="0"/>
              <a:t>indings | 1/6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14B150-D976-0907-0049-D58028F65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2222091"/>
            <a:ext cx="6068470" cy="312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Research question and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A78"/>
                </a:solidFill>
              </a:defRPr>
            </a:pPr>
            <a:r>
              <a:t>What can the current experiment tell us about classifying the dataset’s stroke-risk categories?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468880" cy="132588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1325880"/>
          </a:xfrm>
          <a:prstGeom prst="rect">
            <a:avLst/>
          </a:prstGeom>
          <a:solidFill>
            <a:srgbClr val="31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B"/>
                </a:solidFill>
              </a:defRPr>
            </a:pPr>
            <a:r>
              <a:t>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A78"/>
                </a:solidFill>
              </a:defRPr>
            </a:pPr>
            <a:r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468880" cy="132588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508760"/>
            <a:ext cx="73152" cy="1325880"/>
          </a:xfrm>
          <a:prstGeom prst="rect">
            <a:avLst/>
          </a:prstGeom>
          <a:solidFill>
            <a:srgbClr val="24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B"/>
                </a:solidFill>
              </a:defRPr>
            </a:pPr>
            <a: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67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A78"/>
                </a:solidFill>
              </a:defRPr>
            </a:pPr>
            <a: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2468880" cy="132588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73152" cy="1325880"/>
          </a:xfrm>
          <a:prstGeom prst="rect">
            <a:avLst/>
          </a:prstGeom>
          <a:solidFill>
            <a:srgbClr val="E0A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B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A78"/>
                </a:solidFill>
              </a:defRPr>
            </a:pPr>
            <a:r>
              <a:t>risk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508760"/>
            <a:ext cx="2468880" cy="132588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1508760"/>
            <a:ext cx="73152" cy="1325880"/>
          </a:xfrm>
          <a:prstGeom prst="rect">
            <a:avLst/>
          </a:prstGeom>
          <a:solidFill>
            <a:srgbClr val="B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691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B"/>
                </a:solidFill>
              </a:defRPr>
            </a:pPr>
            <a:r>
              <a:t>68.75%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267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A78"/>
                </a:solidFill>
              </a:defRPr>
            </a:pPr>
            <a:r>
              <a:t>Moderate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3756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A3441"/>
                </a:solidFill>
              </a:defRPr>
            </a:pPr>
            <a:r>
              <a:t>Target distribution: Moderate 34,375 (68.75%); High 12,112 (24.22%); Low 3,513 (7.03%).</a:t>
            </a:r>
          </a:p>
          <a:p>
            <a:pPr>
              <a:spcAft>
                <a:spcPts val="1000"/>
              </a:spcAft>
              <a:defRPr sz="1700">
                <a:solidFill>
                  <a:srgbClr val="2A3441"/>
                </a:solidFill>
              </a:defRPr>
            </a:pPr>
            <a:r>
              <a:t>Target classes are imbalanced, especially the Low category.</a:t>
            </a:r>
          </a:p>
          <a:p>
            <a:pPr>
              <a:spcAft>
                <a:spcPts val="1000"/>
              </a:spcAft>
              <a:defRPr sz="1700">
                <a:solidFill>
                  <a:srgbClr val="2A3441"/>
                </a:solidFill>
              </a:defRPr>
            </a:pPr>
            <a:r>
              <a:t>Labels should be treated as dataset-defined categories—not independently verified clinical outcomes.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37960"/>
            <a:ext cx="229421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8"/>
                </a:solidFill>
              </a:defRPr>
            </a:pPr>
            <a:r>
              <a:rPr dirty="0"/>
              <a:t>Stroke-Risk Category Classification • </a:t>
            </a:r>
            <a:r>
              <a:rPr lang="en-US" dirty="0"/>
              <a:t>F</a:t>
            </a:r>
            <a:r>
              <a:rPr dirty="0"/>
              <a:t>indings |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Methodology and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A78"/>
                </a:solidFill>
              </a:defRPr>
            </a:pPr>
            <a:r>
              <a:t>Summary of the workflow represented in the experiment</a:t>
            </a:r>
          </a:p>
        </p:txBody>
      </p:sp>
      <p:sp>
        <p:nvSpPr>
          <p:cNvPr id="4" name="Oval 3"/>
          <p:cNvSpPr/>
          <p:nvPr/>
        </p:nvSpPr>
        <p:spPr>
          <a:xfrm>
            <a:off x="1234440" y="1508760"/>
            <a:ext cx="731520" cy="731520"/>
          </a:xfrm>
          <a:prstGeom prst="ellipse">
            <a:avLst/>
          </a:prstGeom>
          <a:solidFill>
            <a:srgbClr val="31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6733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Load &amp; inspect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A78"/>
                </a:solidFill>
              </a:defRPr>
            </a:pPr>
            <a:r>
              <a:t>50,000 rows; 40 columns</a:t>
            </a:r>
          </a:p>
        </p:txBody>
      </p:sp>
      <p:sp>
        <p:nvSpPr>
          <p:cNvPr id="8" name="Chevron 7"/>
          <p:cNvSpPr/>
          <p:nvPr/>
        </p:nvSpPr>
        <p:spPr>
          <a:xfrm>
            <a:off x="2880360" y="1719072"/>
            <a:ext cx="365760" cy="274320"/>
          </a:xfrm>
          <a:prstGeom prst="chevron">
            <a:avLst/>
          </a:prstGeom>
          <a:solidFill>
            <a:srgbClr val="BE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114800" y="1508760"/>
            <a:ext cx="731520" cy="731520"/>
          </a:xfrm>
          <a:prstGeom prst="ellipse">
            <a:avLst/>
          </a:prstGeom>
          <a:solidFill>
            <a:srgbClr val="24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6733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423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Prepare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26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A78"/>
                </a:solidFill>
              </a:defRPr>
            </a:pPr>
            <a:r>
              <a:t>Clean data and encode categories</a:t>
            </a:r>
          </a:p>
        </p:txBody>
      </p:sp>
      <p:sp>
        <p:nvSpPr>
          <p:cNvPr id="13" name="Chevron 12"/>
          <p:cNvSpPr/>
          <p:nvPr/>
        </p:nvSpPr>
        <p:spPr>
          <a:xfrm>
            <a:off x="5760720" y="1719072"/>
            <a:ext cx="365760" cy="274320"/>
          </a:xfrm>
          <a:prstGeom prst="chevron">
            <a:avLst/>
          </a:prstGeom>
          <a:solidFill>
            <a:srgbClr val="BE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95159" y="1508760"/>
            <a:ext cx="731520" cy="731520"/>
          </a:xfrm>
          <a:prstGeom prst="ellipse">
            <a:avLst/>
          </a:prstGeom>
          <a:solidFill>
            <a:srgbClr val="E0A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59" y="16733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Engineer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926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A78"/>
                </a:solidFill>
              </a:defRPr>
            </a:pPr>
            <a:r>
              <a:t>Pulse Pressure; Metabolic Risk Index</a:t>
            </a:r>
          </a:p>
        </p:txBody>
      </p:sp>
      <p:sp>
        <p:nvSpPr>
          <p:cNvPr id="18" name="Chevron 17"/>
          <p:cNvSpPr/>
          <p:nvPr/>
        </p:nvSpPr>
        <p:spPr>
          <a:xfrm>
            <a:off x="8641080" y="1719072"/>
            <a:ext cx="365760" cy="274320"/>
          </a:xfrm>
          <a:prstGeom prst="chevron">
            <a:avLst/>
          </a:prstGeom>
          <a:solidFill>
            <a:srgbClr val="BE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75519" y="1508760"/>
            <a:ext cx="731520" cy="731520"/>
          </a:xfrm>
          <a:prstGeom prst="ellipse">
            <a:avLst/>
          </a:prstGeom>
          <a:solidFill>
            <a:srgbClr val="B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19" y="16733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423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4B"/>
                </a:solidFill>
              </a:defRPr>
            </a:pPr>
            <a:r>
              <a:t>Train &amp; 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926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A78"/>
                </a:solidFill>
              </a:defRPr>
            </a:pPr>
            <a:r>
              <a:t>Compare baseline with 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690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A3441"/>
                </a:solidFill>
              </a:defRPr>
            </a:pPr>
            <a:r>
              <a:t>Pulse Pressure = systolic blood pressure − diastolic blood pressure.</a:t>
            </a:r>
          </a:p>
          <a:p>
            <a:pPr>
              <a:spcAft>
                <a:spcPts val="1000"/>
              </a:spcAft>
              <a:defRPr sz="1500">
                <a:solidFill>
                  <a:srgbClr val="2A3441"/>
                </a:solidFill>
              </a:defRPr>
            </a:pPr>
            <a:r>
              <a:t>Metabolic Risk Index = glucose × BMI.</a:t>
            </a:r>
          </a:p>
          <a:p>
            <a:pPr>
              <a:spcAft>
                <a:spcPts val="1000"/>
              </a:spcAft>
              <a:defRPr sz="1500">
                <a:solidFill>
                  <a:srgbClr val="2A3441"/>
                </a:solidFill>
              </a:defRPr>
            </a:pPr>
            <a:r>
              <a:t>Review preprocessing order: fit preprocessing only on training data to avoid leakage.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37960"/>
            <a:ext cx="229421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8"/>
                </a:solidFill>
              </a:defRPr>
            </a:pPr>
            <a:r>
              <a:rPr dirty="0"/>
              <a:t>Stroke-Risk Category Classification • </a:t>
            </a:r>
            <a:r>
              <a:rPr lang="en-US" dirty="0"/>
              <a:t>F</a:t>
            </a:r>
            <a:r>
              <a:rPr dirty="0"/>
              <a:t>indings |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Overall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34199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A78"/>
                </a:solidFill>
              </a:defRPr>
            </a:pPr>
            <a:r>
              <a:rPr sz="1200" dirty="0"/>
              <a:t>Metrics reported in the saved experiment notebook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684239"/>
              </p:ext>
            </p:extLst>
          </p:nvPr>
        </p:nvGraphicFramePr>
        <p:xfrm>
          <a:off x="731520" y="1508760"/>
          <a:ext cx="10698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Model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Accuracy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Macro precision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Macro recall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Macro F1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Linear Regression baseline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41.35%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60.96%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22.30%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28.81%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Random Forest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85.38%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86.01%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</a:defRPr>
                      </a:pPr>
                      <a:r>
                        <a:rPr sz="1400"/>
                        <a:t>72.92%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</a:defRPr>
                      </a:pPr>
                      <a:r>
                        <a:rPr sz="1400" dirty="0"/>
                        <a:t>77.94%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424516"/>
            <a:ext cx="1069848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</a:defRPr>
            </a:pPr>
            <a:r>
              <a:rPr dirty="0"/>
              <a:t>Random Forest substantially outperforms the notebook’s Linear Regression baseline.</a:t>
            </a:r>
          </a:p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</a:defRPr>
            </a:pPr>
            <a:r>
              <a:rPr dirty="0"/>
              <a:t>Linear Regression is not a suitable primary classification benchmark; Logistic Regression is a better baseline.</a:t>
            </a:r>
          </a:p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</a:defRPr>
            </a:pPr>
            <a:r>
              <a:rPr dirty="0"/>
              <a:t>Accuracy alone can hide weak minority-class performance; review class-level recall and macro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229421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8"/>
                </a:solidFill>
              </a:defRPr>
            </a:pPr>
            <a:r>
              <a:rPr dirty="0"/>
              <a:t>Stroke-Risk Category Classification • </a:t>
            </a:r>
            <a:r>
              <a:rPr lang="en-US" dirty="0"/>
              <a:t>F</a:t>
            </a:r>
            <a:r>
              <a:rPr dirty="0"/>
              <a:t>indings |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Class-level findings and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A78"/>
                </a:solidFill>
              </a:defRPr>
            </a:pPr>
            <a:r>
              <a:t>Random Forest recall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Moderate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508760"/>
            <a:ext cx="6583680" cy="384048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68880" y="1508760"/>
            <a:ext cx="6246595" cy="384048"/>
          </a:xfrm>
          <a:prstGeom prst="roundRect">
            <a:avLst/>
          </a:prstGeom>
          <a:solidFill>
            <a:srgbClr val="24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0" y="149047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A3441"/>
                </a:solidFill>
              </a:defRPr>
            </a:pPr>
            <a:r>
              <a:t>94.88%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423160"/>
            <a:ext cx="6583680" cy="384048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68880" y="2423160"/>
            <a:ext cx="4382097" cy="384048"/>
          </a:xfrm>
          <a:prstGeom prst="roundRect">
            <a:avLst/>
          </a:prstGeom>
          <a:solidFill>
            <a:srgbClr val="31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0" y="240487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A3441"/>
                </a:solidFill>
              </a:defRPr>
            </a:pPr>
            <a:r>
              <a:t>66.56%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337560"/>
            <a:ext cx="6583680" cy="384048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68880" y="3337560"/>
            <a:ext cx="3774423" cy="384048"/>
          </a:xfrm>
          <a:prstGeom prst="roundRect">
            <a:avLst/>
          </a:prstGeom>
          <a:solidFill>
            <a:srgbClr val="B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331927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A3441"/>
                </a:solidFill>
              </a:defRPr>
            </a:pPr>
            <a:r>
              <a:t>57.33%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A3441"/>
                </a:solidFill>
              </a:defRPr>
            </a:pPr>
            <a:r>
              <a:t>Moderate recall is high (94.88%); High recall is 66.56% and Low recall is 57.33%.</a:t>
            </a:r>
          </a:p>
          <a:p>
            <a:pPr>
              <a:spcAft>
                <a:spcPts val="1000"/>
              </a:spcAft>
              <a:defRPr sz="1400">
                <a:solidFill>
                  <a:srgbClr val="2A3441"/>
                </a:solidFill>
              </a:defRPr>
            </a:pPr>
            <a:r>
              <a:t>The smaller Low class is hardest to identify reliably in this run.</a:t>
            </a:r>
          </a:p>
          <a:p>
            <a:pPr>
              <a:spcAft>
                <a:spcPts val="1000"/>
              </a:spcAft>
              <a:defRPr sz="1400">
                <a:solidFill>
                  <a:srgbClr val="2A3441"/>
                </a:solidFill>
              </a:defRPr>
            </a:pPr>
            <a:r>
              <a:t>Doctor_Consultation_Needed is prominent in feature importance; verify it was not derived from or informed by the target.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37960"/>
            <a:ext cx="231666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8"/>
                </a:solidFill>
              </a:defRPr>
            </a:pPr>
            <a:r>
              <a:rPr dirty="0"/>
              <a:t>Stroke-Risk Category Classification •  </a:t>
            </a:r>
            <a:r>
              <a:rPr lang="en-US" dirty="0"/>
              <a:t>F</a:t>
            </a:r>
            <a:r>
              <a:rPr dirty="0"/>
              <a:t>indings |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Takeaways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Random Forest is strongest in the current experiment (85.38% accuracy; 77.94% macro F1).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Class imbalance and weaker Low/High recall mean the model needs further evaluation.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Use a stratified train/test split and fit preprocessing on training data only in a Pipeline/ColumnTransformer.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Use one-hot encoding for nominal categories; compare Logistic Regression and other suitable classifiers.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Check possible target leakage and validate labels before making clinical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AE0DE"/>
                </a:solidFill>
              </a:defRPr>
            </a:pPr>
            <a:r>
              <a:t>Conclusion: promising experimental performance, but not yet evidence of clinical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228940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A78"/>
                </a:solidFill>
              </a:defRPr>
            </a:pPr>
            <a:r>
              <a:rPr dirty="0"/>
              <a:t>Stroke-Risk Category Classification • </a:t>
            </a:r>
            <a:r>
              <a:rPr lang="en-US" dirty="0"/>
              <a:t>Findings</a:t>
            </a:r>
            <a:r>
              <a:rPr dirty="0"/>
              <a:t> |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467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ABU KAISER MOHAMMAD HASHEM</cp:lastModifiedBy>
  <cp:revision>4</cp:revision>
  <dcterms:created xsi:type="dcterms:W3CDTF">2013-01-27T09:14:16Z</dcterms:created>
  <dcterms:modified xsi:type="dcterms:W3CDTF">2026-10-16T17:37:11Z</dcterms:modified>
  <cp:category/>
</cp:coreProperties>
</file>